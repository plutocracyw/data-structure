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71" r:id="rId4"/>
    <p:sldId id="272" r:id="rId5"/>
    <p:sldId id="266" r:id="rId6"/>
    <p:sldId id="268" r:id="rId7"/>
    <p:sldId id="270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94" autoAdjust="0"/>
  </p:normalViewPr>
  <p:slideViewPr>
    <p:cSldViewPr>
      <p:cViewPr varScale="1">
        <p:scale>
          <a:sx n="103" d="100"/>
          <a:sy n="103" d="100"/>
        </p:scale>
        <p:origin x="538" y="86"/>
      </p:cViewPr>
      <p:guideLst>
        <p:guide orient="horz" pos="2160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EEA3406F-2840-4722-ADAA-D5E110ECB5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0238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FBF0C-64BF-4F10-8FF2-E559B8ACF7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93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F10B42-A520-41F7-A69C-F650F51B8B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41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60BEE-9E14-4BF6-ADB5-4AD7E709FA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8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B96AA-A398-4D57-A7B2-9D838E7C900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03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80012-EC12-43C1-AA76-318BF87880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79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9B52B-C6BF-4F8A-9316-607FB732A9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75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BE589-CC61-4AD0-B823-F28E3D89E5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12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66225-4FF2-4FA6-9EF5-A4AB968A64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84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A959E-B8AB-4B4B-A56E-3CEB13529C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9D9EA-3794-4185-90AB-B04DD99EBB9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23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DCBBD0-429C-44DE-86A9-CDBD4693C1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82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7A987E94-F2B3-42C3-BC68-BADE23E54F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1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zh-CN"/>
              <a:t>数据结构上机</a:t>
            </a:r>
          </a:p>
        </p:txBody>
      </p:sp>
      <p:sp>
        <p:nvSpPr>
          <p:cNvPr id="3074" name="副标题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endParaRPr lang="en-US" altLang="zh-CN" dirty="0">
              <a:solidFill>
                <a:srgbClr val="898989"/>
              </a:solidFill>
            </a:endParaRP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898989"/>
                </a:solidFill>
              </a:rPr>
              <a:t>2025.10.21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57163" y="357188"/>
            <a:ext cx="8229601" cy="1143000"/>
          </a:xfrm>
        </p:spPr>
        <p:txBody>
          <a:bodyPr/>
          <a:lstStyle/>
          <a:p>
            <a:r>
              <a:rPr lang="zh-CN" altLang="en-US" sz="4000"/>
              <a:t>一、上机内容</a:t>
            </a:r>
            <a:br>
              <a:rPr lang="en-US" altLang="zh-CN" sz="4000"/>
            </a:br>
            <a:endParaRPr lang="zh-CN" altLang="en-US" sz="4000"/>
          </a:p>
        </p:txBody>
      </p:sp>
      <p:sp>
        <p:nvSpPr>
          <p:cNvPr id="4099" name="内容占位符 2"/>
          <p:cNvSpPr>
            <a:spLocks noGrp="1"/>
          </p:cNvSpPr>
          <p:nvPr>
            <p:ph idx="4294967295"/>
          </p:nvPr>
        </p:nvSpPr>
        <p:spPr>
          <a:xfrm>
            <a:off x="457200" y="1073150"/>
            <a:ext cx="8229600" cy="5165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800" dirty="0"/>
              <a:t>1. </a:t>
            </a:r>
            <a:r>
              <a:rPr lang="zh-CN" altLang="en-US" sz="2800" dirty="0"/>
              <a:t>完善上周顺序表的作业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800" dirty="0"/>
              <a:t>2. </a:t>
            </a:r>
            <a:r>
              <a:rPr lang="zh-CN" altLang="en-US" sz="2800" dirty="0"/>
              <a:t>使用给出的模板，实现链表的以下基本操作</a:t>
            </a:r>
          </a:p>
          <a:p>
            <a:pPr>
              <a:defRPr/>
            </a:pPr>
            <a:r>
              <a:rPr lang="en-US" altLang="zh-CN" sz="2800" i="1" dirty="0" err="1"/>
              <a:t>LinkList</a:t>
            </a:r>
            <a:r>
              <a:rPr lang="en-US" altLang="zh-CN" sz="2800" i="1" dirty="0"/>
              <a:t>();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构造函数，构造一个</a:t>
            </a:r>
            <a:r>
              <a:rPr lang="en-US" altLang="zh-CN" sz="2400" dirty="0" err="1"/>
              <a:t>LinkList</a:t>
            </a:r>
            <a:r>
              <a:rPr lang="zh-CN" altLang="en-US" sz="2400" dirty="0"/>
              <a:t>，初始化内部的成员变量。</a:t>
            </a:r>
            <a:endParaRPr lang="en-US" altLang="zh-CN" sz="2400" dirty="0"/>
          </a:p>
          <a:p>
            <a:pPr>
              <a:defRPr/>
            </a:pPr>
            <a:r>
              <a:rPr lang="en-US" altLang="zh-CN" sz="2800" i="1" dirty="0"/>
              <a:t>void insert(const int&amp; data, const int&amp; location);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将</a:t>
            </a:r>
            <a:r>
              <a:rPr lang="en-US" altLang="zh-CN" sz="2400" dirty="0"/>
              <a:t>data</a:t>
            </a:r>
            <a:r>
              <a:rPr lang="zh-CN" altLang="en-US" sz="2400" dirty="0"/>
              <a:t>插入</a:t>
            </a:r>
            <a:r>
              <a:rPr lang="en-US" altLang="zh-CN" sz="2400" dirty="0"/>
              <a:t>location</a:t>
            </a:r>
            <a:r>
              <a:rPr lang="zh-CN" altLang="en-US" sz="2400" dirty="0"/>
              <a:t>中。其中</a:t>
            </a:r>
            <a:r>
              <a:rPr lang="en-US" altLang="zh-CN" sz="2400" dirty="0"/>
              <a:t>location</a:t>
            </a:r>
            <a:r>
              <a:rPr lang="zh-CN" altLang="en-US" sz="2400" dirty="0"/>
              <a:t>的计数从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开始，并且</a:t>
            </a:r>
            <a:r>
              <a:rPr lang="zh-CN" altLang="en-US" sz="2400" dirty="0">
                <a:highlight>
                  <a:srgbClr val="FFFF00"/>
                </a:highlight>
              </a:rPr>
              <a:t>测试时会保证</a:t>
            </a:r>
            <a:r>
              <a:rPr lang="en-US" altLang="zh-CN" sz="2400" dirty="0"/>
              <a:t>location </a:t>
            </a:r>
            <a:r>
              <a:rPr lang="zh-CN" altLang="en-US" sz="2400" dirty="0"/>
              <a:t>小于等于元素的个数。</a:t>
            </a:r>
            <a:endParaRPr lang="en-US" altLang="zh-CN" sz="2400" dirty="0"/>
          </a:p>
          <a:p>
            <a:pPr>
              <a:defRPr/>
            </a:pPr>
            <a:r>
              <a:rPr lang="en-US" altLang="zh-CN" sz="2800" i="1" dirty="0"/>
              <a:t>Int length();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返回链表中元素的个数。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57163" y="357188"/>
            <a:ext cx="8229601" cy="1143000"/>
          </a:xfrm>
        </p:spPr>
        <p:txBody>
          <a:bodyPr/>
          <a:lstStyle/>
          <a:p>
            <a:r>
              <a:rPr lang="zh-CN" altLang="en-US" sz="4000"/>
              <a:t>一、上机内容</a:t>
            </a:r>
            <a:br>
              <a:rPr lang="en-US" altLang="zh-CN" sz="4000"/>
            </a:br>
            <a:endParaRPr lang="zh-CN" altLang="en-US" sz="4000"/>
          </a:p>
        </p:txBody>
      </p:sp>
      <p:sp>
        <p:nvSpPr>
          <p:cNvPr id="4099" name="内容占位符 2"/>
          <p:cNvSpPr>
            <a:spLocks noGrp="1"/>
          </p:cNvSpPr>
          <p:nvPr>
            <p:ph idx="4294967295"/>
          </p:nvPr>
        </p:nvSpPr>
        <p:spPr>
          <a:xfrm>
            <a:off x="457200" y="1073150"/>
            <a:ext cx="8229600" cy="5165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800" i="1" dirty="0"/>
              <a:t>bool remove(const int&amp; location);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删除位置为</a:t>
            </a:r>
            <a:r>
              <a:rPr lang="en-US" altLang="zh-CN" sz="2400" dirty="0"/>
              <a:t>location</a:t>
            </a:r>
            <a:r>
              <a:rPr lang="zh-CN" altLang="en-US" sz="2400" dirty="0"/>
              <a:t>的元素，如果</a:t>
            </a:r>
            <a:r>
              <a:rPr lang="en-US" altLang="zh-CN" sz="2400" dirty="0"/>
              <a:t>location</a:t>
            </a:r>
            <a:r>
              <a:rPr lang="zh-CN" altLang="en-US" sz="2400" dirty="0"/>
              <a:t>不合法，则返回</a:t>
            </a:r>
            <a:r>
              <a:rPr lang="en-US" altLang="zh-CN" sz="2400" dirty="0"/>
              <a:t>false</a:t>
            </a:r>
            <a:r>
              <a:rPr lang="zh-CN" altLang="en-US" sz="2400" dirty="0"/>
              <a:t>。删除成功则返回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defRPr/>
            </a:pPr>
            <a:r>
              <a:rPr lang="en-US" altLang="zh-CN" sz="2800" i="1" dirty="0"/>
              <a:t>int </a:t>
            </a:r>
            <a:r>
              <a:rPr lang="en-US" altLang="zh-CN" sz="2800" i="1" dirty="0" err="1"/>
              <a:t>getData</a:t>
            </a:r>
            <a:r>
              <a:rPr lang="en-US" altLang="zh-CN" sz="2800" i="1" dirty="0"/>
              <a:t>(const int&amp; location);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返回位置为</a:t>
            </a:r>
            <a:r>
              <a:rPr lang="en-US" altLang="zh-CN" sz="2400" dirty="0"/>
              <a:t>location</a:t>
            </a:r>
            <a:r>
              <a:rPr lang="zh-CN" altLang="en-US" sz="2400" dirty="0"/>
              <a:t>的元素。</a:t>
            </a:r>
            <a:endParaRPr lang="en-US" altLang="zh-CN" sz="2400" dirty="0"/>
          </a:p>
          <a:p>
            <a:pPr>
              <a:defRPr/>
            </a:pPr>
            <a:r>
              <a:rPr lang="en-US" altLang="zh-CN" sz="2800" i="1" dirty="0"/>
              <a:t>void converse();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要求可以对链表实现翻转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400" dirty="0"/>
              <a:t>例如：链表中内容为 1 2 3 4 5</a:t>
            </a:r>
          </a:p>
          <a:p>
            <a:pPr marL="0" indent="0">
              <a:buNone/>
              <a:defRPr/>
            </a:pPr>
            <a:r>
              <a:rPr lang="zh-CN" altLang="en-US" sz="2800" dirty="0"/>
              <a:t>                  倒置后为         </a:t>
            </a:r>
            <a:r>
              <a:rPr lang="en-US" altLang="zh-CN" sz="2800" dirty="0"/>
              <a:t>5 4 3 2 1 </a:t>
            </a:r>
            <a:endParaRPr lang="en-US" altLang="zh-CN" sz="2400" dirty="0"/>
          </a:p>
          <a:p>
            <a:pPr>
              <a:defRPr/>
            </a:pPr>
            <a:r>
              <a:rPr lang="zh-CN" altLang="en-US" sz="2800" i="1" dirty="0"/>
              <a:t>～</a:t>
            </a:r>
            <a:r>
              <a:rPr lang="en-US" altLang="zh-CN" sz="2800" i="1" dirty="0" err="1"/>
              <a:t>LinkList</a:t>
            </a:r>
            <a:r>
              <a:rPr lang="en-US" altLang="zh-CN" sz="2800" i="1" dirty="0"/>
              <a:t>();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析构函数</a:t>
            </a:r>
            <a:endParaRPr lang="en-US" altLang="zh-CN" sz="2400" dirty="0"/>
          </a:p>
          <a:p>
            <a:pPr marL="457200" lvl="1" indent="0">
              <a:buNone/>
              <a:defRPr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7075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57163" y="357188"/>
            <a:ext cx="8229601" cy="1143000"/>
          </a:xfrm>
        </p:spPr>
        <p:txBody>
          <a:bodyPr/>
          <a:lstStyle/>
          <a:p>
            <a:r>
              <a:rPr lang="zh-CN" altLang="en-US" sz="4000"/>
              <a:t>一、上机内容</a:t>
            </a:r>
            <a:br>
              <a:rPr lang="en-US" altLang="zh-CN" sz="4000"/>
            </a:br>
            <a:endParaRPr lang="zh-CN" altLang="en-US" sz="4000"/>
          </a:p>
        </p:txBody>
      </p:sp>
      <p:sp>
        <p:nvSpPr>
          <p:cNvPr id="4099" name="内容占位符 2"/>
          <p:cNvSpPr>
            <a:spLocks noGrp="1"/>
          </p:cNvSpPr>
          <p:nvPr>
            <p:ph idx="4294967295"/>
          </p:nvPr>
        </p:nvSpPr>
        <p:spPr>
          <a:xfrm>
            <a:off x="457200" y="1073150"/>
            <a:ext cx="8229600" cy="51657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dirty="0"/>
              <a:t>3.</a:t>
            </a:r>
            <a:r>
              <a:rPr lang="zh-CN" altLang="en-US" sz="2800" dirty="0"/>
              <a:t> 实现</a:t>
            </a:r>
            <a:r>
              <a:rPr lang="zh-CN" altLang="en-US" sz="2800" dirty="0">
                <a:solidFill>
                  <a:srgbClr val="7030A0"/>
                </a:solidFill>
              </a:rPr>
              <a:t>双向链表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7030A0"/>
                </a:solidFill>
              </a:rPr>
              <a:t>循环链表。</a:t>
            </a:r>
            <a:r>
              <a:rPr lang="zh-CN" altLang="en-US" sz="2800" dirty="0"/>
              <a:t>由于两种链表实现方式灵活，所以不再限制头文件</a:t>
            </a:r>
            <a:r>
              <a:rPr lang="en-US" altLang="zh-CN" sz="2800" dirty="0"/>
              <a:t>(.h)</a:t>
            </a:r>
            <a:r>
              <a:rPr lang="zh-CN" altLang="en-US" sz="2800" dirty="0"/>
              <a:t>。在这里需要双向链表和循环链表需要和链表</a:t>
            </a:r>
            <a:r>
              <a:rPr lang="zh-CN" altLang="en-US" sz="2800" dirty="0">
                <a:solidFill>
                  <a:srgbClr val="7030A0"/>
                </a:solidFill>
              </a:rPr>
              <a:t>有相同的方法</a:t>
            </a:r>
            <a:r>
              <a:rPr lang="zh-CN" altLang="en-US" sz="2800" dirty="0"/>
              <a:t>。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测试点参见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main.cpp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要求： 循环链表类名为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CycList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实现到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CycList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文件中，双向链表为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DuList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，实现到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DuList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文件中。</a:t>
            </a:r>
            <a:endParaRPr lang="en-US" altLang="zh-CN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65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/>
              <a:t>二、附加题</a:t>
            </a:r>
            <a:br>
              <a:rPr lang="en-US" altLang="zh-CN" sz="3600"/>
            </a:br>
            <a:endParaRPr lang="zh-CN" altLang="en-US" sz="360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01650" y="1216025"/>
            <a:ext cx="8215313" cy="48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altLang="zh-CN" sz="2800" dirty="0"/>
          </a:p>
          <a:p>
            <a:pPr>
              <a:defRPr/>
            </a:pPr>
            <a:r>
              <a:rPr lang="en-US" altLang="zh-CN" sz="2800" i="1" dirty="0"/>
              <a:t>void append(</a:t>
            </a:r>
            <a:r>
              <a:rPr lang="en-US" altLang="zh-CN" sz="2800" i="1" dirty="0" err="1"/>
              <a:t>LinkList</a:t>
            </a:r>
            <a:r>
              <a:rPr lang="en-US" altLang="zh-CN" sz="2800" i="1" dirty="0"/>
              <a:t>&amp; </a:t>
            </a:r>
            <a:r>
              <a:rPr lang="en-US" altLang="zh-CN" sz="2800" i="1" dirty="0" err="1"/>
              <a:t>append_list</a:t>
            </a:r>
            <a:r>
              <a:rPr lang="en-US" altLang="zh-CN" sz="2800" i="1" dirty="0"/>
              <a:t>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要求可以将</a:t>
            </a:r>
            <a:r>
              <a:rPr lang="en-US" altLang="zh-CN" sz="2400" dirty="0" err="1"/>
              <a:t>append_list</a:t>
            </a:r>
            <a:r>
              <a:rPr lang="zh-CN" altLang="en-US" sz="2400" dirty="0"/>
              <a:t>扩充到链表中，</a:t>
            </a:r>
            <a:r>
              <a:rPr lang="zh-CN" altLang="en-US" sz="2400" dirty="0">
                <a:solidFill>
                  <a:srgbClr val="FF0000"/>
                </a:solidFill>
              </a:rPr>
              <a:t>需要对</a:t>
            </a:r>
            <a:r>
              <a:rPr lang="en-US" altLang="zh-CN" sz="2400" dirty="0" err="1">
                <a:solidFill>
                  <a:srgbClr val="FF0000"/>
                </a:solidFill>
              </a:rPr>
              <a:t>append_list</a:t>
            </a:r>
            <a:r>
              <a:rPr lang="zh-CN" altLang="en-US" sz="2400" dirty="0">
                <a:solidFill>
                  <a:srgbClr val="FF0000"/>
                </a:solidFill>
              </a:rPr>
              <a:t>中的元素实现深拷贝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2800" dirty="0"/>
          </a:p>
          <a:p>
            <a:pPr>
              <a:defRPr/>
            </a:pPr>
            <a:r>
              <a:rPr lang="zh-CN" altLang="en-US" sz="2800" dirty="0"/>
              <a:t>例如： 原始的</a:t>
            </a:r>
            <a:r>
              <a:rPr lang="en-US" altLang="zh-CN" sz="2800" dirty="0"/>
              <a:t>list : 1 2 3     </a:t>
            </a:r>
            <a:r>
              <a:rPr lang="en-US" altLang="zh-CN" sz="2800" dirty="0" err="1"/>
              <a:t>append_list</a:t>
            </a:r>
            <a:r>
              <a:rPr lang="en-US" altLang="zh-CN" sz="2800" dirty="0"/>
              <a:t>:  2 3 4</a:t>
            </a:r>
            <a:endParaRPr lang="zh-CN" altLang="en-US" sz="2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2800" dirty="0"/>
              <a:t>                   调用</a:t>
            </a:r>
            <a:r>
              <a:rPr lang="en-US" altLang="zh-CN" sz="2800" dirty="0"/>
              <a:t>append(</a:t>
            </a:r>
            <a:r>
              <a:rPr lang="en-US" altLang="zh-CN" sz="2800" dirty="0" err="1"/>
              <a:t>append_list</a:t>
            </a:r>
            <a:r>
              <a:rPr lang="en-US" altLang="zh-CN" sz="2800" dirty="0"/>
              <a:t>)</a:t>
            </a:r>
            <a:r>
              <a:rPr lang="zh-CN" altLang="en-US" sz="2800" dirty="0"/>
              <a:t>后</a:t>
            </a:r>
            <a:r>
              <a:rPr lang="en-US" altLang="zh-CN" sz="2800" dirty="0"/>
              <a:t>: 1 2 3 2 3 4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三、注意事项</a:t>
            </a:r>
            <a:br>
              <a:rPr lang="en-US" altLang="zh-CN" sz="3600" dirty="0"/>
            </a:br>
            <a:endParaRPr lang="zh-CN" altLang="en-US" sz="36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64343" y="1196752"/>
            <a:ext cx="8215313" cy="48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、注意作业命名问题。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2</a:t>
            </a:r>
            <a:r>
              <a:rPr lang="zh-CN" altLang="en-US" sz="2800" dirty="0"/>
              <a:t>、是否有头节点自行决定。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3</a:t>
            </a:r>
            <a:r>
              <a:rPr lang="zh-CN" altLang="en-US" sz="2800" dirty="0">
                <a:solidFill>
                  <a:srgbClr val="FF0000"/>
                </a:solidFill>
              </a:rPr>
              <a:t>、本次需要提交代码运行截图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5240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四、作业提交</a:t>
            </a:r>
            <a:br>
              <a:rPr lang="en-US" altLang="zh-CN" sz="3600" dirty="0"/>
            </a:br>
            <a:endParaRPr lang="zh-CN" altLang="en-US" sz="36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01650" y="1216025"/>
            <a:ext cx="8215313" cy="48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、压缩包文件结构为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800" dirty="0"/>
              <a:t>     3024244xxx_name_dshk2.zip</a:t>
            </a:r>
          </a:p>
          <a:p>
            <a:pPr>
              <a:defRPr/>
            </a:pPr>
            <a:r>
              <a:rPr lang="en-US" altLang="zh-CN" sz="2800" dirty="0"/>
              <a:t> 	   |- </a:t>
            </a:r>
            <a:r>
              <a:rPr lang="zh-CN" altLang="en-US" sz="2800" dirty="0"/>
              <a:t>运行截图（</a:t>
            </a:r>
            <a:r>
              <a:rPr lang="en-US" altLang="zh-CN" sz="2800" dirty="0"/>
              <a:t>word</a:t>
            </a:r>
            <a:r>
              <a:rPr lang="zh-CN" altLang="en-US" sz="2800" dirty="0"/>
              <a:t>文件或</a:t>
            </a:r>
            <a:r>
              <a:rPr lang="en-US" altLang="zh-CN" sz="2800" dirty="0"/>
              <a:t>pdf</a:t>
            </a:r>
            <a:r>
              <a:rPr lang="zh-CN" altLang="en-US" sz="2800" dirty="0"/>
              <a:t>文件）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          |- LinkList.cpp</a:t>
            </a:r>
          </a:p>
          <a:p>
            <a:pPr>
              <a:defRPr/>
            </a:pPr>
            <a:r>
              <a:rPr lang="en-US" altLang="zh-CN" sz="2800" dirty="0"/>
              <a:t> 	   |- DuLink.cpp</a:t>
            </a:r>
          </a:p>
          <a:p>
            <a:pPr>
              <a:defRPr/>
            </a:pPr>
            <a:r>
              <a:rPr lang="en-US" altLang="zh-CN" sz="2800" dirty="0"/>
              <a:t> 	   |- </a:t>
            </a:r>
            <a:r>
              <a:rPr lang="en-US" altLang="zh-CN" sz="2800" dirty="0" err="1"/>
              <a:t>DuLink.h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 	   |- </a:t>
            </a:r>
            <a:r>
              <a:rPr lang="en-US" altLang="zh-CN" sz="2800" dirty="0" err="1"/>
              <a:t>CycLink.cpp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 	   |- </a:t>
            </a:r>
            <a:r>
              <a:rPr lang="en-US" altLang="zh-CN" sz="2800" dirty="0" err="1"/>
              <a:t>CycLink.h</a:t>
            </a:r>
            <a:endParaRPr lang="en-US" altLang="zh-CN" sz="2000" dirty="0"/>
          </a:p>
          <a:p>
            <a:pPr>
              <a:defRPr/>
            </a:pPr>
            <a:r>
              <a:rPr lang="en-US" altLang="zh-CN" sz="2800" dirty="0"/>
              <a:t>2</a:t>
            </a:r>
            <a:r>
              <a:rPr lang="zh-CN" altLang="en-US" sz="2800" dirty="0"/>
              <a:t>、只需要提交压缩包</a:t>
            </a:r>
            <a:r>
              <a:rPr lang="en-US" altLang="zh-CN" sz="2800" dirty="0"/>
              <a:t>3024244xxx_name_dshk2.zip</a:t>
            </a:r>
            <a:r>
              <a:rPr lang="zh-CN" altLang="en-US" sz="2800" dirty="0"/>
              <a:t>。</a:t>
            </a:r>
            <a:r>
              <a:rPr lang="en-US" altLang="zh-CN" sz="2800" dirty="0"/>
              <a:t> </a:t>
            </a:r>
            <a:r>
              <a:rPr lang="zh-CN" altLang="en-US" sz="2800" dirty="0"/>
              <a:t>在给出的作业要求中有提交程序的示例。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1429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</TotalTime>
  <Pages>0</Pages>
  <Words>453</Words>
  <Characters>0</Characters>
  <Application>Microsoft Office PowerPoint</Application>
  <DocSecurity>0</DocSecurity>
  <PresentationFormat>全屏显示(4:3)</PresentationFormat>
  <Lines>0</Lines>
  <Paragraphs>50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主题</vt:lpstr>
      <vt:lpstr>数据结构上机</vt:lpstr>
      <vt:lpstr>一、上机内容 </vt:lpstr>
      <vt:lpstr>一、上机内容 </vt:lpstr>
      <vt:lpstr>一、上机内容 </vt:lpstr>
      <vt:lpstr>二、附加题 </vt:lpstr>
      <vt:lpstr>三、注意事项 </vt:lpstr>
      <vt:lpstr>四、作业提交 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subject/>
  <dc:creator>lishuxin</dc:creator>
  <cp:keywords/>
  <dc:description/>
  <cp:lastModifiedBy>志伟 谢</cp:lastModifiedBy>
  <cp:revision>78</cp:revision>
  <dcterms:created xsi:type="dcterms:W3CDTF">2015-10-23T05:13:03Z</dcterms:created>
  <dcterms:modified xsi:type="dcterms:W3CDTF">2025-10-17T04:03:49Z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